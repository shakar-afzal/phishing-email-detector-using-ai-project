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AD7B7-C85B-4AB3-8DEE-A139F9823F21}" v="2" dt="2025-01-03T15:45:24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MG MIAN" userId="d794157bbda60f0c" providerId="LiveId" clId="{A61AD7B7-C85B-4AB3-8DEE-A139F9823F21}"/>
    <pc:docChg chg="modSld">
      <pc:chgData name="TMG MIAN" userId="d794157bbda60f0c" providerId="LiveId" clId="{A61AD7B7-C85B-4AB3-8DEE-A139F9823F21}" dt="2025-01-03T15:46:11.880" v="96" actId="255"/>
      <pc:docMkLst>
        <pc:docMk/>
      </pc:docMkLst>
      <pc:sldChg chg="modSp mod">
        <pc:chgData name="TMG MIAN" userId="d794157bbda60f0c" providerId="LiveId" clId="{A61AD7B7-C85B-4AB3-8DEE-A139F9823F21}" dt="2025-01-03T15:46:11.880" v="96" actId="255"/>
        <pc:sldMkLst>
          <pc:docMk/>
          <pc:sldMk cId="0" sldId="256"/>
        </pc:sldMkLst>
        <pc:spChg chg="mod">
          <ac:chgData name="TMG MIAN" userId="d794157bbda60f0c" providerId="LiveId" clId="{A61AD7B7-C85B-4AB3-8DEE-A139F9823F21}" dt="2025-01-03T15:45:44.712" v="93" actId="115"/>
          <ac:spMkLst>
            <pc:docMk/>
            <pc:sldMk cId="0" sldId="256"/>
            <ac:spMk id="3" creationId="{00000000-0000-0000-0000-000000000000}"/>
          </ac:spMkLst>
        </pc:spChg>
        <pc:spChg chg="mod">
          <ac:chgData name="TMG MIAN" userId="d794157bbda60f0c" providerId="LiveId" clId="{A61AD7B7-C85B-4AB3-8DEE-A139F9823F21}" dt="2025-01-03T15:45:30.615" v="90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TMG MIAN" userId="d794157bbda60f0c" providerId="LiveId" clId="{A61AD7B7-C85B-4AB3-8DEE-A139F9823F21}" dt="2025-01-03T15:46:11.880" v="96" actId="255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199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FFA5-7FB8-16D1-6882-3EE9917B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7D4FA-97D7-2C94-2382-DCDD5BD32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D4B8F-610B-AE45-5617-EA2EBF1FA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24AC5-648C-28B2-5E23-FE6480A6B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6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9265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Phishing Email Detector: Machine Learning in Action</a:t>
            </a:r>
            <a:endParaRPr lang="en-US" sz="445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114800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8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This presentation showcases a Python and Flask-based system for detecting phishing emails using machine learning.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56570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6756440" y="5640110"/>
            <a:ext cx="5810698" cy="175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ea typeface="Nobile Bold" pitchFamily="34" charset="-122"/>
                <a:cs typeface="Times New Roman" panose="02020603050405020304" pitchFamily="18" charset="0"/>
              </a:rPr>
              <a:t>MUHAMMAD SALMAN (F23605083) </a:t>
            </a:r>
          </a:p>
          <a:p>
            <a:pPr marL="342900" indent="-34290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ea typeface="Nobile Bold" pitchFamily="34" charset="-122"/>
                <a:cs typeface="Times New Roman" panose="02020603050405020304" pitchFamily="18" charset="0"/>
              </a:rPr>
              <a:t>MIAN SHAKAR AFZAL (F23605073)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79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948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Phishing emails pose a significant cybersecurity threat.</a:t>
            </a:r>
            <a:endParaRPr lang="en-US" dirty="0">
              <a:latin typeface="Calibri (Body)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617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They trick users into revealing sensitive information or installing malware.</a:t>
            </a:r>
            <a:endParaRPr lang="en-US" dirty="0">
              <a:latin typeface="Calibri (Body)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2948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Develop a machine learning-based solution to detect phishing emails.</a:t>
            </a:r>
            <a:endParaRPr lang="en-US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BA73E4B-469B-FC43-D224-CD272FA5C517}"/>
              </a:ext>
            </a:extLst>
          </p:cNvPr>
          <p:cNvSpPr/>
          <p:nvPr/>
        </p:nvSpPr>
        <p:spPr>
          <a:xfrm>
            <a:off x="771167" y="834550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158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alibri (Body)"/>
                <a:ea typeface="Alexandria" pitchFamily="34" charset="-122"/>
                <a:cs typeface="Alexandria" pitchFamily="34" charset="-120"/>
              </a:rPr>
              <a:t>Dataset Overview</a:t>
            </a:r>
            <a:endParaRPr lang="en-US" sz="4450" dirty="0">
              <a:latin typeface="Calibri (Body)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964787"/>
            <a:ext cx="4196358" cy="2184083"/>
          </a:xfrm>
          <a:prstGeom prst="roundRect">
            <a:avLst>
              <a:gd name="adj" fmla="val 436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028224" y="51992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alibri (Body)"/>
                <a:ea typeface="Alexandria" pitchFamily="34" charset="-122"/>
                <a:cs typeface="Alexandria" pitchFamily="34" charset="-120"/>
              </a:rPr>
              <a:t>Dataset Used</a:t>
            </a:r>
            <a:endParaRPr lang="en-US" sz="2200" dirty="0">
              <a:latin typeface="Calibri (Body)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568964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CEAS\_08.csv</a:t>
            </a:r>
            <a:endParaRPr lang="en-US" sz="1750" dirty="0">
              <a:latin typeface="Calibri (Body)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16962" y="4964787"/>
            <a:ext cx="4196358" cy="2184083"/>
          </a:xfrm>
          <a:prstGeom prst="roundRect">
            <a:avLst>
              <a:gd name="adj" fmla="val 436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51396" y="51992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alibri (Body)"/>
                <a:ea typeface="Alexandria" pitchFamily="34" charset="-122"/>
                <a:cs typeface="Alexandria" pitchFamily="34" charset="-120"/>
              </a:rPr>
              <a:t>Dataset Features</a:t>
            </a:r>
            <a:endParaRPr lang="en-US" sz="2200" dirty="0">
              <a:latin typeface="Calibri (Body)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51396" y="568964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Columns: sender, receiver, date, subject, body, label, urls.</a:t>
            </a:r>
            <a:endParaRPr lang="en-US" sz="1750" dirty="0">
              <a:latin typeface="Calibri (Body)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51396" y="655153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Size: 39,154 entries.</a:t>
            </a:r>
            <a:endParaRPr lang="en-US" sz="1750" dirty="0">
              <a:latin typeface="Calibri (Body)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640133" y="4964787"/>
            <a:ext cx="4196358" cy="2184083"/>
          </a:xfrm>
          <a:prstGeom prst="roundRect">
            <a:avLst>
              <a:gd name="adj" fmla="val 436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874568" y="51992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alibri (Body)"/>
                <a:ea typeface="Alexandria" pitchFamily="34" charset="-122"/>
                <a:cs typeface="Alexandria" pitchFamily="34" charset="-120"/>
              </a:rPr>
              <a:t>Key Attribute</a:t>
            </a:r>
            <a:endParaRPr lang="en-US" sz="2200" dirty="0">
              <a:latin typeface="Calibri (Body)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74568" y="568964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label (1 = Phishing, 0 = Legitimate).</a:t>
            </a:r>
            <a:endParaRPr lang="en-US" sz="1750" dirty="0">
              <a:latin typeface="Calibri (Body)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45958"/>
            <a:ext cx="5670590" cy="3574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Preprocessing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71048" y="1649849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009293" y="4830723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29972" y="286297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985123" y="3007895"/>
            <a:ext cx="45719" cy="329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530906" y="2862976"/>
            <a:ext cx="2835235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Plain Html</a:t>
            </a:r>
            <a:endParaRPr lang="en-US" sz="2200" b="1" dirty="0"/>
          </a:p>
        </p:txBody>
      </p:sp>
      <p:sp>
        <p:nvSpPr>
          <p:cNvPr id="10" name="Text 7"/>
          <p:cNvSpPr/>
          <p:nvPr/>
        </p:nvSpPr>
        <p:spPr>
          <a:xfrm>
            <a:off x="1530906" y="3256685"/>
            <a:ext cx="3459242" cy="1936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/>
              <a:t>Added simple functional html.</a:t>
            </a:r>
          </a:p>
        </p:txBody>
      </p:sp>
      <p:sp>
        <p:nvSpPr>
          <p:cNvPr id="11" name="Shape 8"/>
          <p:cNvSpPr/>
          <p:nvPr/>
        </p:nvSpPr>
        <p:spPr>
          <a:xfrm>
            <a:off x="9668233" y="28658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 flipH="1">
            <a:off x="5418295" y="3007895"/>
            <a:ext cx="9055694" cy="3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10388224" y="2936932"/>
            <a:ext cx="2256315" cy="3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/>
              <a:t>Styled Version</a:t>
            </a:r>
            <a:endParaRPr lang="en-US" sz="2200" b="1" dirty="0"/>
          </a:p>
        </p:txBody>
      </p:sp>
      <p:sp>
        <p:nvSpPr>
          <p:cNvPr id="14" name="Text 11"/>
          <p:cNvSpPr/>
          <p:nvPr/>
        </p:nvSpPr>
        <p:spPr>
          <a:xfrm>
            <a:off x="10377249" y="3256686"/>
            <a:ext cx="3459241" cy="123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600" dirty="0"/>
              <a:t>Added CSS for modern design and better usability.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4340048" y="50321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16" name="Text 13"/>
          <p:cNvSpPr/>
          <p:nvPr/>
        </p:nvSpPr>
        <p:spPr>
          <a:xfrm>
            <a:off x="-745958" y="5193627"/>
            <a:ext cx="10741374" cy="1105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5060039" y="5122664"/>
            <a:ext cx="8152446" cy="1105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/>
              <a:t>Key Changes</a:t>
            </a:r>
            <a:endParaRPr lang="en-US" sz="2200" b="1" dirty="0"/>
          </a:p>
        </p:txBody>
      </p:sp>
      <p:sp>
        <p:nvSpPr>
          <p:cNvPr id="18" name="Text 15"/>
          <p:cNvSpPr/>
          <p:nvPr/>
        </p:nvSpPr>
        <p:spPr>
          <a:xfrm>
            <a:off x="4990148" y="5703808"/>
            <a:ext cx="8846343" cy="1749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600" dirty="0"/>
              <a:t>Centralized layout, responsive design, hover effects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600" dirty="0"/>
              <a:t> for buttons, and color-coded results.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6473"/>
            <a:ext cx="5740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Feature Engineering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32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1337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Used CountVectorizer for converting email text into numerical data.</a:t>
            </a:r>
            <a:endParaRPr lang="en-US" sz="1750" dirty="0">
              <a:latin typeface="Calibri (Body)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672189"/>
            <a:ext cx="6244709" cy="1096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Split the dataset into training and testing subsets (80-20 split).</a:t>
            </a:r>
            <a:endParaRPr lang="en-US" sz="1750" dirty="0">
              <a:latin typeface="Calibri (Body)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3532227"/>
            <a:ext cx="31086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CountVectorizer?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1133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Simplifies text representation.</a:t>
            </a:r>
            <a:endParaRPr lang="en-US" sz="1750" dirty="0">
              <a:latin typeface="Calibri (Body)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6803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Ideal for detecting patterns in email text.</a:t>
            </a:r>
            <a:endParaRPr lang="en-US" sz="1750" dirty="0">
              <a:latin typeface="Calibri (Body)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48B69C3B-CD19-009F-49D3-A8D0BA0A1405}"/>
              </a:ext>
            </a:extLst>
          </p:cNvPr>
          <p:cNvSpPr/>
          <p:nvPr/>
        </p:nvSpPr>
        <p:spPr>
          <a:xfrm>
            <a:off x="771167" y="6750186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Selection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1214" y="2958465"/>
            <a:ext cx="10632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846070"/>
            <a:ext cx="26985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B8C3D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71449" y="4160163"/>
            <a:ext cx="16585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33304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450675"/>
            <a:ext cx="33155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 chosen due to complexity.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B8C3D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70853" y="5523786"/>
            <a:ext cx="16692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509272" y="5323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SVM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814298"/>
            <a:ext cx="42374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Not chosen due to computational cost.</a:t>
            </a:r>
            <a:endParaRPr lang="en-US" sz="1750" dirty="0">
              <a:latin typeface="Calibri (Body)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Logistic Regression was chosen for its simplicity and </a:t>
            </a: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efficiency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binary classification tasks.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57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Training and Evaluation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76776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95%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80148" y="38085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Accuracy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742021" y="2776776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93%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5128498" y="38085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956691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97%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1180148" y="5988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Recall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65979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The model achieved high accuracy, precision, and recall on the test data.</a:t>
            </a:r>
            <a:endParaRPr lang="en-US" sz="1750" dirty="0">
              <a:latin typeface="Calibri (Body)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0947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Flask Web App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437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937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Input Email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4427934"/>
            <a:ext cx="3608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Enter email content in a text box.</a:t>
            </a:r>
            <a:endParaRPr lang="en-US" sz="1750" dirty="0">
              <a:latin typeface="Calibri (Body)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021" y="31437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3937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42021" y="4427934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Get immediate classification as Phishing or Legitimate.</a:t>
            </a:r>
            <a:endParaRPr lang="en-US" sz="1750" dirty="0">
              <a:latin typeface="Calibri (Body)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93790" y="540889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alibri (Body)"/>
                <a:ea typeface="Nobile" pitchFamily="34" charset="-122"/>
                <a:cs typeface="Nobile" pitchFamily="34" charset="-120"/>
              </a:rPr>
              <a:t>The web app provides a user-friendly interface for detecting phishing emails.</a:t>
            </a:r>
            <a:endParaRPr lang="en-US" sz="1750" dirty="0">
              <a:latin typeface="Calibri (Body)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03531C-DC58-346C-45DD-7AA78CE0D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022" y="0"/>
            <a:ext cx="6464378" cy="8164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5A84-78C6-4762-D2E0-1285A73C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FEFF9C3-ABD3-1245-EE82-1DE883A24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D5054DA-14AC-7A6E-25F1-5D0BBEC92C86}"/>
              </a:ext>
            </a:extLst>
          </p:cNvPr>
          <p:cNvSpPr/>
          <p:nvPr/>
        </p:nvSpPr>
        <p:spPr>
          <a:xfrm>
            <a:off x="793790" y="36117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/>
              <a:t>Future Enhancements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107D467-8CF9-84F9-E2F3-70A5452541C3}"/>
              </a:ext>
            </a:extLst>
          </p:cNvPr>
          <p:cNvSpPr/>
          <p:nvPr/>
        </p:nvSpPr>
        <p:spPr>
          <a:xfrm>
            <a:off x="793790" y="4660702"/>
            <a:ext cx="13042821" cy="702945"/>
          </a:xfrm>
          <a:prstGeom prst="roundRect">
            <a:avLst>
              <a:gd name="adj" fmla="val 13553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9010B0-7513-F565-F7C3-1E653A38D481}"/>
              </a:ext>
            </a:extLst>
          </p:cNvPr>
          <p:cNvSpPr/>
          <p:nvPr/>
        </p:nvSpPr>
        <p:spPr>
          <a:xfrm>
            <a:off x="782479" y="4660702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ECFD745-2529-3229-ED55-AC79D2961206}"/>
              </a:ext>
            </a:extLst>
          </p:cNvPr>
          <p:cNvSpPr/>
          <p:nvPr/>
        </p:nvSpPr>
        <p:spPr>
          <a:xfrm>
            <a:off x="1009293" y="4830723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C4E902C-F146-2570-3F58-6DF597E7DF60}"/>
              </a:ext>
            </a:extLst>
          </p:cNvPr>
          <p:cNvSpPr/>
          <p:nvPr/>
        </p:nvSpPr>
        <p:spPr>
          <a:xfrm>
            <a:off x="754142" y="585406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C1B980A-A5AF-6D28-F305-3AFAC04DD4DD}"/>
              </a:ext>
            </a:extLst>
          </p:cNvPr>
          <p:cNvSpPr/>
          <p:nvPr/>
        </p:nvSpPr>
        <p:spPr>
          <a:xfrm>
            <a:off x="985123" y="5958959"/>
            <a:ext cx="12763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9BEA4FF-6A88-F50D-39EA-0734E8AD160A}"/>
              </a:ext>
            </a:extLst>
          </p:cNvPr>
          <p:cNvSpPr/>
          <p:nvPr/>
        </p:nvSpPr>
        <p:spPr>
          <a:xfrm>
            <a:off x="1530906" y="5873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043BCE-9A47-E40B-AD60-000B3EE9C658}"/>
              </a:ext>
            </a:extLst>
          </p:cNvPr>
          <p:cNvSpPr/>
          <p:nvPr/>
        </p:nvSpPr>
        <p:spPr>
          <a:xfrm>
            <a:off x="1530906" y="5854065"/>
            <a:ext cx="3459242" cy="1236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/>
              <a:t>Add support for multilingual emails.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BA7F585-285B-5935-799B-F9ADC23816ED}"/>
              </a:ext>
            </a:extLst>
          </p:cNvPr>
          <p:cNvSpPr/>
          <p:nvPr/>
        </p:nvSpPr>
        <p:spPr>
          <a:xfrm>
            <a:off x="5216962" y="587394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FDAE710-D2BC-4920-10E1-62A240A4B06A}"/>
              </a:ext>
            </a:extLst>
          </p:cNvPr>
          <p:cNvSpPr/>
          <p:nvPr/>
        </p:nvSpPr>
        <p:spPr>
          <a:xfrm>
            <a:off x="5372576" y="5958959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A0569B0-2504-BA05-F38A-CF7A3DE49B96}"/>
              </a:ext>
            </a:extLst>
          </p:cNvPr>
          <p:cNvSpPr/>
          <p:nvPr/>
        </p:nvSpPr>
        <p:spPr>
          <a:xfrm>
            <a:off x="5954078" y="5873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926029C-06E0-0959-A4D7-BB179EF37743}"/>
              </a:ext>
            </a:extLst>
          </p:cNvPr>
          <p:cNvSpPr/>
          <p:nvPr/>
        </p:nvSpPr>
        <p:spPr>
          <a:xfrm>
            <a:off x="5954078" y="5854065"/>
            <a:ext cx="3459242" cy="1236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/>
              <a:t>Integrate with email services for real-time detection.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2D5FCBB-6CDF-0C47-4D37-5A0CC15E9408}"/>
              </a:ext>
            </a:extLst>
          </p:cNvPr>
          <p:cNvSpPr/>
          <p:nvPr/>
        </p:nvSpPr>
        <p:spPr>
          <a:xfrm>
            <a:off x="9640133" y="587394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4C1C403-7393-8F24-157A-06B2723D4FEC}"/>
              </a:ext>
            </a:extLst>
          </p:cNvPr>
          <p:cNvSpPr/>
          <p:nvPr/>
        </p:nvSpPr>
        <p:spPr>
          <a:xfrm>
            <a:off x="9795034" y="5958959"/>
            <a:ext cx="20038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2AAC9FF-2D07-3C61-CD75-CD95CDBAD80F}"/>
              </a:ext>
            </a:extLst>
          </p:cNvPr>
          <p:cNvSpPr/>
          <p:nvPr/>
        </p:nvSpPr>
        <p:spPr>
          <a:xfrm>
            <a:off x="10377249" y="5873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F0F10A1-63E3-A91B-F184-DEEB805597D6}"/>
              </a:ext>
            </a:extLst>
          </p:cNvPr>
          <p:cNvSpPr/>
          <p:nvPr/>
        </p:nvSpPr>
        <p:spPr>
          <a:xfrm>
            <a:off x="10377249" y="5854065"/>
            <a:ext cx="3459242" cy="159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/>
              <a:t>Use advanced models (e.g., transformers) for improved accuracy.</a:t>
            </a: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DEA3336-0492-B25E-C373-A128489AF1F6}"/>
              </a:ext>
            </a:extLst>
          </p:cNvPr>
          <p:cNvSpPr/>
          <p:nvPr/>
        </p:nvSpPr>
        <p:spPr>
          <a:xfrm>
            <a:off x="934879" y="4813102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67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30E3DE-31B8-D42D-0809-EDE0F9B3135C}"/>
              </a:ext>
            </a:extLst>
          </p:cNvPr>
          <p:cNvSpPr txBox="1"/>
          <p:nvPr/>
        </p:nvSpPr>
        <p:spPr>
          <a:xfrm>
            <a:off x="5666874" y="2526632"/>
            <a:ext cx="61361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/>
          </a:p>
          <a:p>
            <a:r>
              <a:rPr lang="en-US" sz="4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4106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338</Words>
  <Application>Microsoft Office PowerPoint</Application>
  <PresentationFormat>Custom</PresentationFormat>
  <Paragraphs>79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Nobile</vt:lpstr>
      <vt:lpstr>Calibri (Body)</vt:lpstr>
      <vt:lpstr>Times New Roman</vt:lpstr>
      <vt:lpstr>Arial</vt:lpstr>
      <vt:lpstr>Alexandria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TMG MIAN</cp:lastModifiedBy>
  <cp:revision>5</cp:revision>
  <dcterms:created xsi:type="dcterms:W3CDTF">2024-12-22T12:39:03Z</dcterms:created>
  <dcterms:modified xsi:type="dcterms:W3CDTF">2025-01-03T15:46:12Z</dcterms:modified>
</cp:coreProperties>
</file>